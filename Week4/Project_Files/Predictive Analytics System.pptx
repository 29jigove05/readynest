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Outfit"/>
      <p:regular r:id="rId22"/>
      <p:bold r:id="rId23"/>
    </p:embeddedFont>
    <p:embeddedFont>
      <p:font typeface="Noto Sans Symbols"/>
      <p:regular r:id="rId24"/>
      <p:bold r:id="rId25"/>
    </p:embeddedFon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Outfit-regular.fntdata"/><Relationship Id="rId21" Type="http://schemas.openxmlformats.org/officeDocument/2006/relationships/slide" Target="slides/slide17.xml"/><Relationship Id="rId24" Type="http://schemas.openxmlformats.org/officeDocument/2006/relationships/font" Target="fonts/NotoSansSymbols-regular.fntdata"/><Relationship Id="rId23" Type="http://schemas.openxmlformats.org/officeDocument/2006/relationships/font" Target="fonts/Outfi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-regular.fntdata"/><Relationship Id="rId25" Type="http://schemas.openxmlformats.org/officeDocument/2006/relationships/font" Target="fonts/NotoSansSymbols-bold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DM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48fe9235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f48fe9235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48fe9235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f48fe92359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48fe9235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f48fe92359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48fe9235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48fe92359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48fe9235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48fe92359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48fe9235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48fe92359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48fe9235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f48fe92359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title"/>
          </p:nvPr>
        </p:nvSpPr>
        <p:spPr>
          <a:xfrm>
            <a:off x="713160" y="1155960"/>
            <a:ext cx="4160520" cy="23853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"/>
          <p:cNvGrpSpPr/>
          <p:nvPr/>
        </p:nvGrpSpPr>
        <p:grpSpPr>
          <a:xfrm>
            <a:off x="-247680" y="-445680"/>
            <a:ext cx="9639000" cy="6029280"/>
            <a:chOff x="-247680" y="-445680"/>
            <a:chExt cx="9639000" cy="6029280"/>
          </a:xfrm>
        </p:grpSpPr>
        <p:sp>
          <p:nvSpPr>
            <p:cNvPr id="11" name="Google Shape;11;p3"/>
            <p:cNvSpPr/>
            <p:nvPr/>
          </p:nvSpPr>
          <p:spPr>
            <a:xfrm>
              <a:off x="-247320" y="411984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2" name="Google Shape;12;p3"/>
            <p:cNvSpPr/>
            <p:nvPr/>
          </p:nvSpPr>
          <p:spPr>
            <a:xfrm>
              <a:off x="293400" y="461592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3" name="Google Shape;13;p3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4" name="Google Shape;14;p3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98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" name="Google Shape;15;p3"/>
            <p:cNvSpPr/>
            <p:nvPr/>
          </p:nvSpPr>
          <p:spPr>
            <a:xfrm flipH="1" rot="10800000">
              <a:off x="-247680" y="5004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 flipH="1" rot="10800000">
              <a:off x="293040" y="-44568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98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8" name="Google Shape;18;p3"/>
            <p:cNvSpPr/>
            <p:nvPr/>
          </p:nvSpPr>
          <p:spPr>
            <a:xfrm rot="10800000">
              <a:off x="8012160" y="-44568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76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9" name="Google Shape;19;p3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720000" y="1215720"/>
            <a:ext cx="7703640" cy="397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 type="blank">
  <p:cSld name="BLANK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713160" y="677520"/>
            <a:ext cx="509436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3" name="Google Shape;23;p4"/>
          <p:cNvSpPr/>
          <p:nvPr/>
        </p:nvSpPr>
        <p:spPr>
          <a:xfrm>
            <a:off x="713160" y="3611880"/>
            <a:ext cx="5094360" cy="555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b="0" lang="en-US" sz="1200" u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-US" sz="1200" u="sng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2"/>
              </a:rPr>
              <a:t>Slidesgo</a:t>
            </a:r>
            <a:r>
              <a:rPr b="0" lang="en-US" sz="1200" u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-US" sz="1200" u="sng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Flaticon</a:t>
            </a:r>
            <a:r>
              <a:rPr b="0" lang="en-US" sz="1200" u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-US" sz="1200" u="sng" strike="noStrik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Freepik</a:t>
            </a:r>
            <a:r>
              <a:rPr b="0" lang="en-US" sz="1200" u="sng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0" sz="12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5114880" y="-428760"/>
            <a:ext cx="4275360" cy="6450480"/>
            <a:chOff x="5114880" y="-428760"/>
            <a:chExt cx="4275360" cy="6450480"/>
          </a:xfrm>
        </p:grpSpPr>
        <p:sp>
          <p:nvSpPr>
            <p:cNvPr id="29" name="Google Shape;29;p5"/>
            <p:cNvSpPr/>
            <p:nvPr/>
          </p:nvSpPr>
          <p:spPr>
            <a:xfrm flipH="1" rot="10800000">
              <a:off x="8492040" y="-19224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8551800" y="326772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1" name="Google Shape;31;p5"/>
            <p:cNvSpPr/>
            <p:nvPr/>
          </p:nvSpPr>
          <p:spPr>
            <a:xfrm>
              <a:off x="6606720" y="254736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7103520" y="-15336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6684120" y="31860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76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6109920" y="119412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6109920" y="69768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98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7587360" y="119412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5634000" y="-42876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7017840" y="207504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76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5193720" y="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8069040" y="162216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1" name="Google Shape;41;p5"/>
            <p:cNvSpPr/>
            <p:nvPr/>
          </p:nvSpPr>
          <p:spPr>
            <a:xfrm flipH="1" rot="10800000">
              <a:off x="5114880" y="365652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2" name="Google Shape;42;p5"/>
            <p:cNvSpPr/>
            <p:nvPr/>
          </p:nvSpPr>
          <p:spPr>
            <a:xfrm flipH="1" rot="10800000">
              <a:off x="6606360" y="392508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3" name="Google Shape;43;p5"/>
            <p:cNvSpPr/>
            <p:nvPr/>
          </p:nvSpPr>
          <p:spPr>
            <a:xfrm flipH="1" rot="10800000">
              <a:off x="5983560" y="505404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 flipH="1" rot="10800000">
              <a:off x="7178400" y="353376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98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 flipH="1" rot="10800000">
              <a:off x="6606360" y="460980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98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 flipH="1" rot="10800000">
              <a:off x="5526000" y="412884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7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8117280" y="285228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76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8172720" y="303480"/>
              <a:ext cx="838440" cy="967680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76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49" name="Google Shape;49;p5"/>
          <p:cNvSpPr/>
          <p:nvPr/>
        </p:nvSpPr>
        <p:spPr>
          <a:xfrm>
            <a:off x="147300" y="1642550"/>
            <a:ext cx="88494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>
                <a:solidFill>
                  <a:srgbClr val="384655"/>
                </a:solidFill>
                <a:latin typeface="Outfit"/>
                <a:ea typeface="Outfit"/>
                <a:cs typeface="Outfit"/>
                <a:sym typeface="Outfit"/>
              </a:rPr>
              <a:t>Predictive Analytics System for Website Development Opportunities </a:t>
            </a:r>
            <a:endParaRPr b="0" i="0" sz="43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2308915" y="3355580"/>
            <a:ext cx="41619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~ </a:t>
            </a: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Prepared By:</a:t>
            </a:r>
            <a:br>
              <a:rPr b="1" lang="en-US">
                <a:latin typeface="DM Sans"/>
                <a:ea typeface="DM Sans"/>
                <a:cs typeface="DM Sans"/>
                <a:sym typeface="DM Sans"/>
              </a:rPr>
            </a:br>
            <a:r>
              <a:rPr lang="en-US">
                <a:latin typeface="DM Sans"/>
                <a:ea typeface="DM Sans"/>
                <a:cs typeface="DM Sans"/>
                <a:sym typeface="DM Sans"/>
              </a:rPr>
              <a:t> 	George Jibin Verghese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846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384655"/>
                </a:solidFill>
                <a:latin typeface="Outfit"/>
                <a:ea typeface="Outfit"/>
                <a:cs typeface="Outfit"/>
                <a:sym typeface="Outfit"/>
              </a:rPr>
              <a:t>Problem Statement &amp; Objectives </a:t>
            </a:r>
            <a:endParaRPr b="0" i="0" sz="2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619350" y="1085320"/>
            <a:ext cx="79053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Problem Statement</a:t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Many successful local businesses have strong customer ratings and engagement but lack an official website, limiting their digital presence and growth opportunities.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Objectives</a:t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Collect real-world business data using Google Places API.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Clean and prepare the dataset for analysis.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Explore business patterns through visualization.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Develop a machine learning model to predict website ownership.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Identify and rank high-potential businesses for website development.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619200" y="619200"/>
            <a:ext cx="7905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384655"/>
                </a:solidFill>
                <a:latin typeface="Outfit"/>
                <a:ea typeface="Outfit"/>
                <a:cs typeface="Outfit"/>
                <a:sym typeface="Outfit"/>
              </a:rPr>
              <a:t>Why Predictive Analytics? </a:t>
            </a:r>
            <a:endParaRPr b="0" i="0" sz="204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619350" y="1085320"/>
            <a:ext cx="79053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Why is this important?</a:t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Traditional lead identification relies on manual searching, which is time-consuming and inefficient.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Predictive Analytics enables organizations to: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Identify businesses with high growth potential.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Prioritize leads using data-driven insights.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Reduce manual effort in lead generation.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Improve decision-making through machine learning.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/>
          <p:nvPr/>
        </p:nvSpPr>
        <p:spPr>
          <a:xfrm>
            <a:off x="5194237" y="1597279"/>
            <a:ext cx="34761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700" u="none" strike="noStrike">
                <a:solidFill>
                  <a:srgbClr val="384655"/>
                </a:solidFill>
                <a:latin typeface="Outfit"/>
                <a:ea typeface="Outfit"/>
                <a:cs typeface="Outfit"/>
                <a:sym typeface="Outfit"/>
              </a:rPr>
              <a:t>Data Workflow</a:t>
            </a:r>
            <a:endParaRPr b="0" sz="37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5261325" y="2206289"/>
            <a:ext cx="34761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DM Sans"/>
                <a:ea typeface="DM Sans"/>
                <a:cs typeface="DM Sans"/>
                <a:sym typeface="DM Sans"/>
              </a:rPr>
              <a:t>The workflow transforms raw business data into actionable website development opportunities using predictive analytics. </a:t>
            </a:r>
            <a:endParaRPr sz="1200" u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25" y="1095913"/>
            <a:ext cx="5036700" cy="274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048280" y="619200"/>
            <a:ext cx="3476160" cy="36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40">
                <a:solidFill>
                  <a:srgbClr val="384655"/>
                </a:solidFill>
                <a:latin typeface="Outfit"/>
                <a:ea typeface="Outfit"/>
                <a:cs typeface="Outfit"/>
                <a:sym typeface="Outfit"/>
              </a:rPr>
              <a:t>Data Collection </a:t>
            </a:r>
            <a:endParaRPr b="1" sz="274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4610298" y="1141450"/>
            <a:ext cx="4679400" cy="3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Data Source: </a:t>
            </a:r>
            <a:r>
              <a:rPr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Google Places API</a:t>
            </a:r>
            <a:endParaRPr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Dataset Overview</a:t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●"/>
            </a:pPr>
            <a:r>
              <a:rPr b="1"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10,000+</a:t>
            </a: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 business records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●"/>
            </a:pPr>
            <a:r>
              <a:rPr b="1"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35</a:t>
            </a: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 Delhi localities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●"/>
            </a:pPr>
            <a:r>
              <a:rPr b="1"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 business categories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Automated API-based data collection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Attributes Collected</a:t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Business Name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Area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Category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Rating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Key Point</a:t>
            </a:r>
            <a:endParaRPr b="1" sz="13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Using live API data provides a realistic and up-to-date dataset for predictive analysis.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6" name="Google Shape;76;p9"/>
          <p:cNvSpPr txBox="1"/>
          <p:nvPr/>
        </p:nvSpPr>
        <p:spPr>
          <a:xfrm>
            <a:off x="6065125" y="3059125"/>
            <a:ext cx="19989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Review Count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Website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Phone Number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Price Level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" name="Google Shape;77;p9"/>
          <p:cNvSpPr txBox="1"/>
          <p:nvPr/>
        </p:nvSpPr>
        <p:spPr>
          <a:xfrm>
            <a:off x="7380650" y="2845775"/>
            <a:ext cx="19989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DM Sans"/>
              <a:buChar char="●"/>
            </a:pPr>
            <a:r>
              <a:rPr lang="en-US" sz="1100">
                <a:latin typeface="DM Sans"/>
                <a:ea typeface="DM Sans"/>
                <a:cs typeface="DM Sans"/>
                <a:sym typeface="DM Sans"/>
              </a:rPr>
              <a:t>Business Status</a:t>
            </a:r>
            <a:endParaRPr sz="11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8" name="Google Shape;7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550" y="658200"/>
            <a:ext cx="3971375" cy="382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/>
          <p:nvPr/>
        </p:nvSpPr>
        <p:spPr>
          <a:xfrm>
            <a:off x="4610300" y="327200"/>
            <a:ext cx="44100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40">
                <a:solidFill>
                  <a:srgbClr val="384655"/>
                </a:solidFill>
                <a:latin typeface="Outfit"/>
                <a:ea typeface="Outfit"/>
                <a:cs typeface="Outfit"/>
                <a:sym typeface="Outfit"/>
              </a:rPr>
              <a:t>Data Preprocessing &amp; Feature Engineering </a:t>
            </a:r>
            <a:endParaRPr b="1" sz="274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610298" y="1141450"/>
            <a:ext cx="4679400" cy="3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Data Cleaning</a:t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Removed duplicate records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Handled missing values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Standardized text values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Processed business status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Verified dataset quality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Engineered Features</a:t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Has Website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Has Phone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Review Outlier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Number of Business Types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Cleaned Price Level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Outcome</a:t>
            </a:r>
            <a:endParaRPr b="1" sz="13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A clean and machine-learning-ready dataset suitable for predictive modelling.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5" name="Google Shape;8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075" y="1047563"/>
            <a:ext cx="3813225" cy="304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40" u="none" strike="noStrike">
                <a:solidFill>
                  <a:srgbClr val="384655"/>
                </a:solidFill>
                <a:latin typeface="Outfit"/>
                <a:ea typeface="Outfit"/>
                <a:cs typeface="Outfit"/>
                <a:sym typeface="Outfit"/>
              </a:rPr>
              <a:t>EDA &amp; Visualization</a:t>
            </a:r>
            <a:endParaRPr b="0" sz="204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619175" y="3162911"/>
            <a:ext cx="7905300" cy="1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Key Insights</a:t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Most businesses maintain ratings above </a:t>
            </a:r>
            <a:r>
              <a:rPr b="1"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4.0</a:t>
            </a: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Businesses with websites generally receive higher customer engagement.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Some business categories have significantly lower website adoption.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Review count shows a positive relationship with business popularity.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Purpose</a:t>
            </a:r>
            <a:endParaRPr b="1" sz="13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EDA helped uncover patterns and guided feature selection for model development.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2" name="Google Shape;9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075" y="980650"/>
            <a:ext cx="3548746" cy="221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0397" y="866325"/>
            <a:ext cx="4131180" cy="2065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/>
          <p:nvPr/>
        </p:nvSpPr>
        <p:spPr>
          <a:xfrm>
            <a:off x="4800600" y="257040"/>
            <a:ext cx="4114440" cy="4628880"/>
          </a:xfrm>
          <a:prstGeom prst="roundRect">
            <a:avLst>
              <a:gd fmla="val 16667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99" name="Google Shape;99;p12"/>
          <p:cNvSpPr/>
          <p:nvPr/>
        </p:nvSpPr>
        <p:spPr>
          <a:xfrm>
            <a:off x="300025" y="1449200"/>
            <a:ext cx="41145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384655"/>
                </a:solidFill>
                <a:latin typeface="Outfit"/>
                <a:ea typeface="Outfit"/>
                <a:cs typeface="Outfit"/>
                <a:sym typeface="Outfit"/>
              </a:rPr>
              <a:t>Machine Learning Models </a:t>
            </a:r>
            <a:endParaRPr b="0" sz="40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/>
          <p:nvPr/>
        </p:nvSpPr>
        <p:spPr>
          <a:xfrm>
            <a:off x="341475" y="560350"/>
            <a:ext cx="39201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384655"/>
                </a:solidFill>
                <a:latin typeface="Outfit"/>
                <a:ea typeface="Outfit"/>
                <a:cs typeface="Outfit"/>
                <a:sym typeface="Outfit"/>
              </a:rPr>
              <a:t>Machine Learning Models Used: </a:t>
            </a:r>
            <a:endParaRPr b="0" sz="204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184275" y="1076525"/>
            <a:ext cx="4234500" cy="38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Logistic Regression</a:t>
            </a:r>
            <a:endParaRPr b="1" sz="13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A supervised classification algorithm.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Predicts the probability of a business having an official website.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Serves as the baseline model for comparison.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Easy to interpret and computationally efficient.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Random Forest</a:t>
            </a:r>
            <a:endParaRPr b="1" sz="13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An ensemble learning algorithm.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Builds multiple decision trees using different subsets of the data.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Combines predictions from all trees through majority voting.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Reduces overfitting and improves prediction accuracy.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Why Two Models?</a:t>
            </a:r>
            <a:endParaRPr b="1" sz="13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Using multiple models allows performance comparison and helps select the most suitable algorithm for the business problem.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6" name="Google Shape;106;p13"/>
          <p:cNvPicPr preferRelativeResize="0"/>
          <p:nvPr/>
        </p:nvPicPr>
        <p:blipFill rotWithShape="1">
          <a:blip r:embed="rId3">
            <a:alphaModFix/>
          </a:blip>
          <a:srcRect b="0" l="0" r="35459" t="0"/>
          <a:stretch/>
        </p:blipFill>
        <p:spPr>
          <a:xfrm>
            <a:off x="4404525" y="921850"/>
            <a:ext cx="4680299" cy="321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384655"/>
                </a:solidFill>
                <a:latin typeface="Outfit"/>
                <a:ea typeface="Outfit"/>
                <a:cs typeface="Outfit"/>
                <a:sym typeface="Outfit"/>
              </a:rPr>
              <a:t>Machine Learning Models </a:t>
            </a:r>
            <a:endParaRPr b="0" sz="204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19375" y="1062845"/>
            <a:ext cx="7905300" cy="1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Prediction Objective</a:t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Predict whether a business is likely to have an </a:t>
            </a:r>
            <a:r>
              <a:rPr b="1"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official website</a:t>
            </a: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 based on its characteristics.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Logistic Regression (Baseline)</a:t>
            </a:r>
            <a:endParaRPr b="1" sz="13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Simple binary classification model.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Predicts the probability of a business having a website.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Used as a benchmark for comparison.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Random Forest (Final Model)</a:t>
            </a:r>
            <a:endParaRPr b="1" sz="13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Ensemble model consisting of </a:t>
            </a:r>
            <a:r>
              <a:rPr b="1"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300 decision trees</a:t>
            </a: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Each tree makes a prediction using different subsets of the data.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Final prediction is based on the majority vote of all trees.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Captures complex relationships between business features.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Why Random Forest?</a:t>
            </a:r>
            <a:endParaRPr b="1" sz="13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Higher predictive accuracy.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Handles complex feature interactions.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More robust and less prone to overfitting than a single decision tree.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01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6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619200" y="619200"/>
            <a:ext cx="7905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384655"/>
                </a:solidFill>
                <a:latin typeface="Outfit"/>
                <a:ea typeface="Outfit"/>
                <a:cs typeface="Outfit"/>
                <a:sym typeface="Outfit"/>
              </a:rPr>
              <a:t>How the Prediction Works ?</a:t>
            </a:r>
            <a:endParaRPr b="0" sz="204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99068" y="3660385"/>
            <a:ext cx="79053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Key Idea</a:t>
            </a:r>
            <a:endParaRPr b="1" sz="13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The model learns patterns from businesses that already have websites and assigns a </a:t>
            </a:r>
            <a:r>
              <a:rPr b="1"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Website Propensity Score</a:t>
            </a: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 to every business. Businesses with a </a:t>
            </a:r>
            <a:r>
              <a:rPr b="1"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high score but no website</a:t>
            </a: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 are identified as high-priority website development leads.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0138" y="1093000"/>
            <a:ext cx="4383424" cy="23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619200" y="619200"/>
            <a:ext cx="7905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384655"/>
                </a:solidFill>
                <a:latin typeface="Outfit"/>
                <a:ea typeface="Outfit"/>
                <a:cs typeface="Outfit"/>
                <a:sym typeface="Outfit"/>
              </a:rPr>
              <a:t>Model Performance </a:t>
            </a:r>
            <a:endParaRPr b="0" sz="204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619350" y="1048077"/>
            <a:ext cx="7905300" cy="19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Model Results</a:t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Accuracy</a:t>
            </a:r>
            <a:endParaRPr b="1" sz="13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●"/>
            </a:pPr>
            <a:r>
              <a:rPr b="1"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70%</a:t>
            </a: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 of businesses were classified correctly.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ROC-AUC</a:t>
            </a:r>
            <a:endParaRPr b="1" sz="13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Char char="●"/>
            </a:pPr>
            <a:r>
              <a:rPr b="1"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0.77</a:t>
            </a: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, indicating good ability to rank businesses by website propensity.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Confusion Matrix</a:t>
            </a:r>
            <a:endParaRPr b="1" sz="13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Shows correct and incorrect classifications.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Helps evaluate where the model performs well and where misclassifications occur.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Why ROC-AUC Matters</a:t>
            </a:r>
            <a:endParaRPr b="1" sz="13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Since the goal is to </a:t>
            </a:r>
            <a:r>
              <a:rPr b="1"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rank businesses</a:t>
            </a: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 rather than simply classify them, </a:t>
            </a:r>
            <a:r>
              <a:rPr b="1"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ROC-AUC is a more meaningful performance metric than accuracy</a:t>
            </a: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6" name="Google Shape;12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3475" y="205025"/>
            <a:ext cx="4410958" cy="186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/>
          <p:nvPr/>
        </p:nvSpPr>
        <p:spPr>
          <a:xfrm>
            <a:off x="4800600" y="257040"/>
            <a:ext cx="4114500" cy="4629000"/>
          </a:xfrm>
          <a:prstGeom prst="roundRect">
            <a:avLst>
              <a:gd fmla="val 16667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2" name="Google Shape;132;p17"/>
          <p:cNvSpPr/>
          <p:nvPr/>
        </p:nvSpPr>
        <p:spPr>
          <a:xfrm>
            <a:off x="188210" y="1449200"/>
            <a:ext cx="4683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384655"/>
                </a:solidFill>
                <a:latin typeface="Outfit"/>
                <a:ea typeface="Outfit"/>
                <a:cs typeface="Outfit"/>
                <a:sym typeface="Outfit"/>
              </a:rPr>
              <a:t>Website Propensity Scoring &amp; Lead Generation </a:t>
            </a:r>
            <a:endParaRPr b="0" sz="40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304750" y="619200"/>
            <a:ext cx="7905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384655"/>
                </a:solidFill>
                <a:latin typeface="Outfit"/>
                <a:ea typeface="Outfit"/>
                <a:cs typeface="Outfit"/>
                <a:sym typeface="Outfit"/>
              </a:rPr>
              <a:t>Website Propensity Scoring &amp; Lead Generation </a:t>
            </a:r>
            <a:endParaRPr b="0" sz="204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237527" y="1025566"/>
            <a:ext cx="79053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Website Propensity Score</a:t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The trained Random Forest model assigns each business a </a:t>
            </a:r>
            <a:r>
              <a:rPr b="1"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Website Propensity Score</a:t>
            </a: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, representing how closely it resembles businesses that already have an official website.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High-Priority Leads</a:t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Businesses with: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High Ratings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High Review Counts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Strong Business Presence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No Official Website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These businesses were identified as ideal prospects 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for website development services.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7875" y="1756450"/>
            <a:ext cx="4782525" cy="304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384655"/>
                </a:solidFill>
                <a:latin typeface="Outfit"/>
                <a:ea typeface="Outfit"/>
                <a:cs typeface="Outfit"/>
                <a:sym typeface="Outfit"/>
              </a:rPr>
              <a:t>Business Insights &amp; Recommendations </a:t>
            </a:r>
            <a:endParaRPr b="0" sz="204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619200" y="1197620"/>
            <a:ext cx="79053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Key Insights</a:t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More than half of the analyzed businesses do not have an official website.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Review count is the strongest predictor of website ownership.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Hardware stores, pharmacies, and mobile shops present significant digital opportunities.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Predictive analytics enables efficient prioritization of website development leads.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Recommendations</a:t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Target businesses with high website propensity scores.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Offer customized website development packages.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Focus digital marketing efforts on high opportunity business categories.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Continuously retrain the model using updated API data.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/>
          <p:nvPr/>
        </p:nvSpPr>
        <p:spPr>
          <a:xfrm>
            <a:off x="619200" y="619200"/>
            <a:ext cx="79053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rgbClr val="384655"/>
                </a:solidFill>
                <a:latin typeface="Outfit"/>
                <a:ea typeface="Outfit"/>
                <a:cs typeface="Outfit"/>
                <a:sym typeface="Outfit"/>
              </a:rPr>
              <a:t>Conclusion &amp; Future Scope </a:t>
            </a:r>
            <a:endParaRPr b="0" sz="204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652891" y="1017934"/>
            <a:ext cx="79053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Conclusion:</a:t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This project successfully developed an end-to-end predictive analytics system for identifying businesses with high website development potential.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By combining Google Places API, data preprocessing, exploratory analysis, and machine learning, the system generated actionable business insights and prioritized high-value leads.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Future Scope:</a:t>
            </a:r>
            <a:endParaRPr b="1" sz="17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Real-time Lead Recommendation System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Integration with CRM Platforms</a:t>
            </a:r>
            <a:endParaRPr sz="11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DM Sans"/>
              <a:buChar char="●"/>
            </a:pPr>
            <a:r>
              <a:rPr lang="en-US" sz="11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Automated API Data Collection </a:t>
            </a:r>
            <a:endParaRPr sz="1600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21"/>
          <p:cNvGrpSpPr/>
          <p:nvPr/>
        </p:nvGrpSpPr>
        <p:grpSpPr>
          <a:xfrm>
            <a:off x="5114880" y="-428760"/>
            <a:ext cx="4275176" cy="6450480"/>
            <a:chOff x="5114880" y="-428760"/>
            <a:chExt cx="4275176" cy="6450480"/>
          </a:xfrm>
        </p:grpSpPr>
        <p:sp>
          <p:nvSpPr>
            <p:cNvPr id="157" name="Google Shape;157;p21"/>
            <p:cNvSpPr/>
            <p:nvPr/>
          </p:nvSpPr>
          <p:spPr>
            <a:xfrm flipH="1" rot="10800000">
              <a:off x="8492040" y="-192157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8" name="Google Shape;158;p21"/>
            <p:cNvSpPr/>
            <p:nvPr/>
          </p:nvSpPr>
          <p:spPr>
            <a:xfrm>
              <a:off x="8551800" y="3267720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6606720" y="2547360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7103520" y="-153360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1" name="Google Shape;161;p21"/>
            <p:cNvSpPr/>
            <p:nvPr/>
          </p:nvSpPr>
          <p:spPr>
            <a:xfrm>
              <a:off x="6684120" y="318600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79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2" name="Google Shape;162;p21"/>
            <p:cNvSpPr/>
            <p:nvPr/>
          </p:nvSpPr>
          <p:spPr>
            <a:xfrm>
              <a:off x="6109920" y="1194120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3" name="Google Shape;163;p21"/>
            <p:cNvSpPr/>
            <p:nvPr/>
          </p:nvSpPr>
          <p:spPr>
            <a:xfrm>
              <a:off x="6109920" y="697680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99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4" name="Google Shape;164;p21"/>
            <p:cNvSpPr/>
            <p:nvPr/>
          </p:nvSpPr>
          <p:spPr>
            <a:xfrm>
              <a:off x="7587360" y="1194120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5" name="Google Shape;165;p21"/>
            <p:cNvSpPr/>
            <p:nvPr/>
          </p:nvSpPr>
          <p:spPr>
            <a:xfrm>
              <a:off x="5634000" y="-428760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6" name="Google Shape;166;p21"/>
            <p:cNvSpPr/>
            <p:nvPr/>
          </p:nvSpPr>
          <p:spPr>
            <a:xfrm>
              <a:off x="7017840" y="2075040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79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5193720" y="0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9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8069040" y="1622160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9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69" name="Google Shape;169;p21"/>
            <p:cNvSpPr/>
            <p:nvPr/>
          </p:nvSpPr>
          <p:spPr>
            <a:xfrm flipH="1" rot="10800000">
              <a:off x="5114880" y="3656603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0" name="Google Shape;170;p21"/>
            <p:cNvSpPr/>
            <p:nvPr/>
          </p:nvSpPr>
          <p:spPr>
            <a:xfrm flipH="1" rot="10800000">
              <a:off x="6606360" y="3925163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1" name="Google Shape;171;p21"/>
            <p:cNvSpPr/>
            <p:nvPr/>
          </p:nvSpPr>
          <p:spPr>
            <a:xfrm flipH="1" rot="10800000">
              <a:off x="5983560" y="5054123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2" name="Google Shape;172;p21"/>
            <p:cNvSpPr/>
            <p:nvPr/>
          </p:nvSpPr>
          <p:spPr>
            <a:xfrm flipH="1" rot="10800000">
              <a:off x="7178400" y="3533843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99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3" name="Google Shape;173;p21"/>
            <p:cNvSpPr/>
            <p:nvPr/>
          </p:nvSpPr>
          <p:spPr>
            <a:xfrm flipH="1" rot="10800000">
              <a:off x="6606360" y="4609883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99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4" name="Google Shape;174;p21"/>
            <p:cNvSpPr/>
            <p:nvPr/>
          </p:nvSpPr>
          <p:spPr>
            <a:xfrm flipH="1" rot="10800000">
              <a:off x="5526000" y="4128923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19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5" name="Google Shape;175;p21"/>
            <p:cNvSpPr/>
            <p:nvPr/>
          </p:nvSpPr>
          <p:spPr>
            <a:xfrm>
              <a:off x="8117280" y="2852280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79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sp>
          <p:nvSpPr>
            <p:cNvPr id="176" name="Google Shape;176;p21"/>
            <p:cNvSpPr/>
            <p:nvPr/>
          </p:nvSpPr>
          <p:spPr>
            <a:xfrm>
              <a:off x="8172720" y="303480"/>
              <a:ext cx="838256" cy="967597"/>
            </a:xfrm>
            <a:custGeom>
              <a:rect b="b" l="l" r="r" t="t"/>
              <a:pathLst>
                <a:path extrusionOk="0" h="209550" w="181539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79"/>
              </a:srgbClr>
            </a:solidFill>
            <a:ln cap="flat" cmpd="sng" w="1905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</p:grpSp>
      <p:sp>
        <p:nvSpPr>
          <p:cNvPr id="177" name="Google Shape;177;p21"/>
          <p:cNvSpPr/>
          <p:nvPr/>
        </p:nvSpPr>
        <p:spPr>
          <a:xfrm>
            <a:off x="798650" y="1125975"/>
            <a:ext cx="3841800" cy="109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>
                <a:solidFill>
                  <a:srgbClr val="384655"/>
                </a:solidFill>
                <a:latin typeface="Outfit"/>
                <a:ea typeface="Outfit"/>
                <a:cs typeface="Outfit"/>
                <a:sym typeface="Outfit"/>
              </a:rPr>
              <a:t>Thank You!!!</a:t>
            </a:r>
            <a:endParaRPr b="0" i="0" sz="4300" u="none" cap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2275215" y="2434693"/>
            <a:ext cx="41619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latin typeface="DM Sans"/>
                <a:ea typeface="DM Sans"/>
                <a:cs typeface="DM Sans"/>
                <a:sym typeface="DM Sans"/>
              </a:rPr>
              <a:t>~ Prepared By:</a:t>
            </a:r>
            <a:br>
              <a:rPr b="1" lang="en-US">
                <a:latin typeface="DM Sans"/>
                <a:ea typeface="DM Sans"/>
                <a:cs typeface="DM Sans"/>
                <a:sym typeface="DM Sans"/>
              </a:rPr>
            </a:br>
            <a:r>
              <a:rPr lang="en-US">
                <a:latin typeface="DM Sans"/>
                <a:ea typeface="DM Sans"/>
                <a:cs typeface="DM Sans"/>
                <a:sym typeface="DM Sans"/>
              </a:rPr>
              <a:t> 	George Jibin Verghese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846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